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21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D:/myPrograms/PycharmProjects/QuDPy-clean/bin/examples/ta/ta_three_level_fixed_lo_detector_phase_cycling.py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D:/myPrograms/PycharmProjects/QuDPy-clean/bin/examples/ta/ta_three_level_fixed_lo_detector_phase_cycling.py</a:t>
            </a:r>
          </a:p>
          <a:p>
            <a:r>
              <a:t>- D:/myPrograms/PycharmProjects/QuDPy-clean/bin/examples/ta/plan_examples/ta_three_level_fixed_lo_detector_phase_cycling.json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  <a:p>
            <a:r>
              <a:t>- D:/myPrograms/PycharmProjects/QuDPy-clean/bin/optical_bloch_plots/ta_three_level_fixed_lo_detector_phase_cycling/delay_100_fs/data/fixed_lo_detector_phase_cycling.npz</a:t>
            </a:r>
          </a:p>
          <a:p>
            <a:r>
              <a:t>- D:/myPrograms/PycharmProjects/QuDPy-clean/bin/examples/ta/ta_three_level_fixed_lo_detector_phase_cycling.py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D:/myPrograms/PycharmProjects/QuDPy-clean/bin/examples/ta/plan_examples/ta_three_level_fixed_lo_detector_phase_cycling.json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D:/myPrograms/PycharmProjects/QuDPy-clean/bin/examples/ta/ta_three_level_fixed_lo_detector_phase_cycling.py</a:t>
            </a:r>
          </a:p>
          <a:p>
            <a:r>
              <a:t>- D:/myPrograms/PycharmProjects/QuDPy-clean/bin/optical_bloch_plots/ta_three_level_fixed_lo_detector_phase_cycling/delay_100_fs/data/fixed_lo_detector_phase_cycling.npz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D:/myPrograms/PycharmProjects/QuDPy-clean/bin/optical_bloch_plots/ta_three_level_fixed_lo_detector_phase_cycling/delay_100_fs/figures/exact_detector_phase_order_map.png</a:t>
            </a:r>
          </a:p>
          <a:p>
            <a:r>
              <a:t>- D:/myPrograms/PycharmProjects/QuDPy-clean/bin/optical_bloch_plots/ta_three_level_fixed_lo_detector_phase_cycling/delay_100_fs/figures/heterodyne_phase_order_map.png</a:t>
            </a:r>
          </a:p>
          <a:p>
            <a:r>
              <a:t>- D:/myPrograms/PycharmProjects/QuDPy-clean/bin/optical_bloch_plots/ta_three_level_fixed_lo_detector_phase_cycling/delay_100_fs/data/phase_order_map.csv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D:/myPrograms/PycharmProjects/QuDPy-clean/bin/optical_bloch_plots/ta_three_level_fixed_lo_detector_phase_cycling/delay_100_fs/figures/primary_channels_exact_vs_heterodyne.png</a:t>
            </a:r>
          </a:p>
          <a:p>
            <a:r>
              <a:t>- D:/myPrograms/PycharmProjects/QuDPy-clean/bin/optical_bloch_plots/ta_three_level_fixed_lo_detector_phase_cycling/delay_100_fs/data/channel_metrics.csv</a:t>
            </a:r>
          </a:p>
          <a:p>
            <a:r>
              <a:t>- D:/myPrograms/PycharmProjects/QuDPy-clean/bin/optical_bloch_plots/ta_three_level_fixed_lo_detector_phase_cycling/delay_100_fs/data/exact_vs_heterodyne_metrics.csv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D:/myPrograms/PycharmProjects/QuDPy-clean/bin/optical_bloch_plots/ta_three_level_fixed_lo_detector_phase_cycling/delay_100_fs/figures/exact_S_0_0_detector_decomposition.png</a:t>
            </a:r>
          </a:p>
          <a:p>
            <a:r>
              <a:t>- D:/myPrograms/PycharmProjects/QuDPy-clean/bin/optical_bloch_plots/ta_three_level_fixed_lo_detector_phase_cycling/delay_100_fs/data/exact_S_0_0_detector_decomposition.csv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D:/myPrograms/PycharmProjects/QuDPy-clean/bin/optical_bloch_plots/ta_three_level_fixed_lo_detector_phase_cycling/delay_100_fs/figures/target_S_0_1_N2_N4_N8_N16.png</a:t>
            </a:r>
          </a:p>
          <a:p>
            <a:r>
              <a:t>- D:/myPrograms/PycharmProjects/QuDPy-clean/bin/optical_bloch_plots/ta_three_level_fixed_lo_detector_phase_cycling/delay_100_fs/data/target_S_0_1_N_comparison.csv</a:t>
            </a:r>
          </a:p>
          <a:p>
            <a:r>
              <a:t>- D:/myPrograms/PycharmProjects/QuDPy-clean/bin/optical_bloch_plots/ta_three_level_fixed_lo_detector_phase_cycling/delay_100_fs/data/N2_alias_table.csv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D:/myPrograms/PycharmProjects/QuDPy-clean/bin/optical_bloch_plots/ta_three_level_fixed_lo_detector_phase_cycling/delay_100_fs/figures/pump_only_phase_cycling_vs_S_0_1.png</a:t>
            </a:r>
          </a:p>
          <a:p>
            <a:r>
              <a:t>- D:/myPrograms/PycharmProjects/QuDPy-clean/bin/optical_bloch_plots/ta_three_level_fixed_lo_detector_phase_cycling/delay_100_fs/data/pump_only_phase_cycling_vs_S_0_1.csv</a:t>
            </a:r>
          </a:p>
          <a:p>
            <a:r>
              <a:t>- D:/myPrograms/PycharmProjects/QuDPy-clean/bin/optical_bloch_plots/ta_three_level_fixed_lo_detector_phase_cycling/delay_100_fs/data/fixed_lo_detector_phase_cycling.npz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  <a:p>
            <a:r>
              <a:t>- D:/myPrograms/PycharmProjects/QuDPy-clean/bin/examples/ta/ta_three_level_fixed_lo_detector_phase_cycling.py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</a:t>
            </a:r>
          </a:p>
          <a:p>
            <a:r>
              <a:t>- D:/myPrograms/PycharmProjects/QuDPy-clean/docs/presentations/TA_fixed_LO_formula_reference.docx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D:/myPrograms/PycharmProjects/QuDPy-clean/bin/optical_bloch_plots/ta_three_level_fixed_lo_detector_phase_cycling/delay_100_fs/figures/exact_vs_heterodyne_residual.png</a:t>
            </a:r>
          </a:p>
          <a:p>
            <a:r>
              <a:t>- D:/myPrograms/PycharmProjects/QuDPy-clean/bin/optical_bloch_plots/ta_three_level_fixed_lo_detector_phase_cycling/delay_100_fs/data/exact_vs_heterodyne_metrics.csv</a:t>
            </a:r>
          </a:p>
          <a:p>
            <a:r>
              <a:t>- D:/myPrograms/PycharmProjects/QuDPy-clean/bin/optical_bloch_plots/ta_three_level_fixed_lo_detector_phase_cycling/delay_100_fs/data/summary.json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8430EF7-D6FC-4A51-BCD5-9FF744A3568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固定 LO 的二维 Phase Cycling 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AB87E5-93E3-409D-B2EF-D70F90A25F4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pump–probe 全场主方程模拟｜+100 fs｜组会内部讨论草稿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2972A54-801A-4959-B5E1-39237BD7C185}"/>
              </a:ext>
            </a:extLst>
          </p:cNvPr>
          <p:cNvSpPr>
            <a:spLocks noGrp="1"/>
          </p:cNvSpPr>
          <p:nvPr/>
        </p:nvSpPr>
        <p:spPr>
          <a:xfrm>
            <a:off x="723900" y="3448050"/>
            <a:ext cx="2000250" cy="0"/>
          </a:xfrm>
          <a:prstGeom prst="line">
            <a:avLst/>
          </a:prstGeom>
          <a:noFill/>
          <a:ln w="38100">
            <a:solidFill>
              <a:srgbClr val="1F5A9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72ECCA-8B89-4E73-9D9B-451379C7D64B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目标：确认 detector readout 改写后，phase-order map、关键通道与 phase-step 收敛性如何变化。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4698CA-DD15-46DE-89C1-03F21FB1AF98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2026-08-20</a:t>
            </a:r>
          </a:p>
        </p:txBody>
      </p:sp>
    </p:spTree>
    <p:extLst>
      <p:ext uri="{BB962C8B-B14F-4D97-AF65-F5344CB8AC3E}">
        <p14:creationId xmlns:p14="http://schemas.microsoft.com/office/powerpoint/2010/main" val="1815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2AF62C7-B2BF-4A81-AC72-7E9E9F9653F1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RESEARCH QUESTIONS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E9564A-5E70-4BA4-ABE9-5FCAC685FAB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本轮只回答三个问题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8DBBB26-4FFE-4016-9844-290F1A9D190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D0B817-4705-45F5-836C-4F549F503528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CF1028-3E12-4AA5-8119-D37A26D8A2D9}"/>
              </a:ext>
            </a:extLst>
          </p:cNvPr>
          <p:cNvSpPr>
            <a:spLocks noGrp="1"/>
          </p:cNvSpPr>
          <p:nvPr/>
        </p:nvSpPr>
        <p:spPr>
          <a:xfrm>
            <a:off x="1466850" y="156210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readout 是否按固定 probe LO 正确定义？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706470-4624-433F-854F-ECEC3F34177F}"/>
              </a:ext>
            </a:extLst>
          </p:cNvPr>
          <p:cNvSpPr>
            <a:spLocks noGrp="1"/>
          </p:cNvSpPr>
          <p:nvPr/>
        </p:nvSpPr>
        <p:spPr>
          <a:xfrm>
            <a:off x="1466850" y="20383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相互作用 probe phase 独立扫描；探测参考场相位保持 0。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2A9C17B1-1D6D-44AF-9D0E-B5DBA7EDFD20}"/>
              </a:ext>
            </a:extLst>
          </p:cNvPr>
          <p:cNvSpPr>
            <a:spLocks noGrp="1"/>
          </p:cNvSpPr>
          <p:nvPr/>
        </p:nvSpPr>
        <p:spPr>
          <a:xfrm>
            <a:off x="1466850" y="2705100"/>
            <a:ext cx="9429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9136A6-4C8B-4577-A25B-6C73EF60D0C2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02A601-5602-4E3D-B6FA-75EFD0C5B50F}"/>
              </a:ext>
            </a:extLst>
          </p:cNvPr>
          <p:cNvSpPr>
            <a:spLocks noGrp="1"/>
          </p:cNvSpPr>
          <p:nvPr/>
        </p:nvSpPr>
        <p:spPr>
          <a:xfrm>
            <a:off x="1466850" y="293370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 S₀,₁ 的 exact 与 weak heterodyne 是否一致？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8BBF66-BE3D-4BF8-B92B-DA6DBC1D4110}"/>
              </a:ext>
            </a:extLst>
          </p:cNvPr>
          <p:cNvSpPr>
            <a:spLocks noGrp="1"/>
          </p:cNvSpPr>
          <p:nvPr/>
        </p:nvSpPr>
        <p:spPr>
          <a:xfrm>
            <a:off x="1466850" y="34099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比较谱形、幅值和残差；S₀,₀ 仅作为背景来源参考。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A81D7594-0686-4E40-AD20-0D7B3FAD0D61}"/>
              </a:ext>
            </a:extLst>
          </p:cNvPr>
          <p:cNvSpPr>
            <a:spLocks noGrp="1"/>
          </p:cNvSpPr>
          <p:nvPr/>
        </p:nvSpPr>
        <p:spPr>
          <a:xfrm>
            <a:off x="1466850" y="4076700"/>
            <a:ext cx="94297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2575CF-8D67-479F-BCED-C47D941027F0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CA6DED-D8E1-4353-87B0-56DEFFC71AB0}"/>
              </a:ext>
            </a:extLst>
          </p:cNvPr>
          <p:cNvSpPr>
            <a:spLocks noGrp="1"/>
          </p:cNvSpPr>
          <p:nvPr/>
        </p:nvSpPr>
        <p:spPr>
          <a:xfrm>
            <a:off x="1466850" y="430530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 取值与 probe cycling 是否改变目标信号？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10E42E-1844-4C34-AB9A-549E84003728}"/>
              </a:ext>
            </a:extLst>
          </p:cNvPr>
          <p:cNvSpPr>
            <a:spLocks noGrp="1"/>
          </p:cNvSpPr>
          <p:nvPr/>
        </p:nvSpPr>
        <p:spPr>
          <a:xfrm>
            <a:off x="1466850" y="47815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统一用 relative RMS 检查 N，并比较 pump-only 与二维 S₀,₁。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29C2AE-33FF-47B2-9E4F-844AA535144A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776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48CE2CA-CB62-4DB4-8F44-AD4D4A2B02FB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DETECTION MODEL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7B2592D-2C0C-4135-A1F6-D1D44587C37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相互作用 probe phase 与 LO phase 必须分开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F7C9066-81DE-4273-AAB7-1B97CC44E58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5999AB-C639-41EC-8F27-EED85CA983F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524125" cy="12001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88D3B1-6C59-453A-82C3-F547B223EA38}"/>
              </a:ext>
            </a:extLst>
          </p:cNvPr>
          <p:cNvSpPr>
            <a:spLocks noGrp="1"/>
          </p:cNvSpPr>
          <p:nvPr/>
        </p:nvSpPr>
        <p:spPr>
          <a:xfrm>
            <a:off x="3924300" y="1676400"/>
            <a:ext cx="2524125" cy="12001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D1009A-3B70-41E9-B590-CD14C82BB9A3}"/>
              </a:ext>
            </a:extLst>
          </p:cNvPr>
          <p:cNvSpPr>
            <a:spLocks noGrp="1"/>
          </p:cNvSpPr>
          <p:nvPr/>
        </p:nvSpPr>
        <p:spPr>
          <a:xfrm>
            <a:off x="7162800" y="1676400"/>
            <a:ext cx="4286250" cy="1200150"/>
          </a:xfrm>
          <a:prstGeom prst="rect">
            <a:avLst/>
          </a:prstGeom>
          <a:solidFill>
            <a:srgbClr val="FFF7ED"/>
          </a:solidFill>
          <a:ln w="9525">
            <a:solidFill>
              <a:srgbClr val="D6A16B"/>
            </a:solidFill>
            <a:prstDash val="solid"/>
          </a:ln>
        </p:spPr>
      </p:sp>
      <p:cxnSp>
        <p:nvCxnSpPr>
          <p:cNvPr id="32" name="直接箭头连接符 31"/>
          <p:cNvCxnSpPr>
            <a:stCxn id="4" idx="3"/>
            <a:endCxn id="5" idx="1"/>
          </p:cNvCxnSpPr>
          <p:nvPr/>
        </p:nvCxnSpPr>
        <p:spPr>
          <a:xfrm>
            <a:off x="3209925" y="2276475"/>
            <a:ext cx="714375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med" len="med"/>
          </a:ln>
        </p:spPr>
      </p:cxnSp>
      <p:cxnSp>
        <p:nvCxnSpPr>
          <p:cNvPr id="33" name="直接箭头连接符 32"/>
          <p:cNvCxnSpPr>
            <a:stCxn id="5" idx="3"/>
            <a:endCxn id="6" idx="1"/>
          </p:cNvCxnSpPr>
          <p:nvPr/>
        </p:nvCxnSpPr>
        <p:spPr>
          <a:xfrm>
            <a:off x="6448425" y="2276475"/>
            <a:ext cx="714375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med" len="me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49811D25-E889-4198-8762-9A3FA1DA40D6}"/>
              </a:ext>
            </a:extLst>
          </p:cNvPr>
          <p:cNvSpPr>
            <a:spLocks noGrp="1"/>
          </p:cNvSpPr>
          <p:nvPr/>
        </p:nvSpPr>
        <p:spPr>
          <a:xfrm>
            <a:off x="895350" y="1866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pump interaction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0FF360-B8AF-49E9-A82F-4E01955E89C7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φ_pu 独立扫描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2B2CBB-F9D9-409E-A544-1D33D16402C2}"/>
              </a:ext>
            </a:extLst>
          </p:cNvPr>
          <p:cNvSpPr>
            <a:spLocks noGrp="1"/>
          </p:cNvSpPr>
          <p:nvPr/>
        </p:nvSpPr>
        <p:spPr>
          <a:xfrm>
            <a:off x="4133850" y="1866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probe interaction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26CB87-D06D-4058-9847-221B05FDA0C3}"/>
              </a:ext>
            </a:extLst>
          </p:cNvPr>
          <p:cNvSpPr>
            <a:spLocks noGrp="1"/>
          </p:cNvSpPr>
          <p:nvPr/>
        </p:nvSpPr>
        <p:spPr>
          <a:xfrm>
            <a:off x="4133850" y="2305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φ_pr,int 独立扫描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851DDF-4E24-4D67-BA92-4102E2502DA7}"/>
              </a:ext>
            </a:extLst>
          </p:cNvPr>
          <p:cNvSpPr>
            <a:spLocks noGrp="1"/>
          </p:cNvSpPr>
          <p:nvPr/>
        </p:nvSpPr>
        <p:spPr>
          <a:xfrm>
            <a:off x="7429500" y="1866900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detector reference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96BA2-17D8-4BD4-9FB7-635F3EE428D4}"/>
              </a:ext>
            </a:extLst>
          </p:cNvPr>
          <p:cNvSpPr>
            <a:spLocks noGrp="1"/>
          </p:cNvSpPr>
          <p:nvPr/>
        </p:nvSpPr>
        <p:spPr>
          <a:xfrm>
            <a:off x="7429500" y="2305050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probe LO 固定：φ_pr,LO = 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E8C128-BAC5-4520-A597-9458C678B5CF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5048250" cy="60960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B330C8-A2F9-4EE7-886B-6E55DCC2D396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478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[F1] 二维 phase grid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548F1B-F81D-4F24-B4EF-3085FD3F6F69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5048250" cy="60960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C3192C-5482-458A-9DC4-B9FFA55BDF31}"/>
              </a:ext>
            </a:extLst>
          </p:cNvPr>
          <p:cNvSpPr>
            <a:spLocks noGrp="1"/>
          </p:cNvSpPr>
          <p:nvPr/>
        </p:nvSpPr>
        <p:spPr>
          <a:xfrm>
            <a:off x="6534150" y="3505200"/>
            <a:ext cx="478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[F2] 固定 LO 条件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2A5AD7-126A-4AF2-9B6D-074849C094F2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22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780775-DC5E-44C1-B5F1-09730E638F26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0210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phase-order 标签只对应进入主方程的 interaction phases。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2CE281-E5E3-4281-AC0C-0395C9BDE56C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22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245A12-789E-4C73-A31B-558896D25EF2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10210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 不跟随 interaction probe phase 旋转。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E9FE61-7419-42E6-A905-4B21EAB60510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22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8A7173-1572-41E4-BEF3-AB16AEBED670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10210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因此目标通道标签重新表现为 S₀,₁。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846FB6-167A-4C5B-8C5C-A2D7CA191192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955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D1F7D067-E87C-428B-9C7C-705520EA5DF6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SIMULATION CONDITIONS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1810B44-BBA1-42DA-8AAA-1057D8ADD6F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三能级模型与传播参数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08ACED2-01A3-4176-85ED-8E555698F24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F99856-5442-44ED-BB62-DDFF2AFC9BA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三能级体系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9D449D-9806-4FF6-B32F-10905E6B834A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1619250" cy="5143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E5E92-5673-4861-A142-660FEF23F57E}"/>
              </a:ext>
            </a:extLst>
          </p:cNvPr>
          <p:cNvSpPr>
            <a:spLocks noGrp="1"/>
          </p:cNvSpPr>
          <p:nvPr/>
        </p:nvSpPr>
        <p:spPr>
          <a:xfrm>
            <a:off x="1000125" y="21907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|1⟩  0.00 eV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5300ED-BA7B-42C6-B7EC-5A36A725BB85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619250" cy="5143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35C643-4614-4A14-B266-223FC0EAD001}"/>
              </a:ext>
            </a:extLst>
          </p:cNvPr>
          <p:cNvSpPr>
            <a:spLocks noGrp="1"/>
          </p:cNvSpPr>
          <p:nvPr/>
        </p:nvSpPr>
        <p:spPr>
          <a:xfrm>
            <a:off x="1000125" y="32575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|2⟩  1.55 eV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449343-0243-4C62-9507-808CD0526E87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1809750" cy="514350"/>
          </a:xfrm>
          <a:prstGeom prst="rect">
            <a:avLst/>
          </a:prstGeom>
          <a:solidFill>
            <a:srgbClr val="FFF7ED"/>
          </a:solidFill>
          <a:ln w="9525">
            <a:solidFill>
              <a:srgbClr val="D6A16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3CA804-614C-4536-8286-004C63099986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|3⟩  3.25 eV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543562-738C-4F9B-BF93-E3ECB567F71B}"/>
              </a:ext>
            </a:extLst>
          </p:cNvPr>
          <p:cNvSpPr>
            <a:spLocks noGrp="1"/>
          </p:cNvSpPr>
          <p:nvPr/>
        </p:nvSpPr>
        <p:spPr>
          <a:xfrm>
            <a:off x="2781300" y="26098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↑ 5 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1B4421-5C52-4AD6-A293-4FA67AFC9B5A}"/>
              </a:ext>
            </a:extLst>
          </p:cNvPr>
          <p:cNvSpPr>
            <a:spLocks noGrp="1"/>
          </p:cNvSpPr>
          <p:nvPr/>
        </p:nvSpPr>
        <p:spPr>
          <a:xfrm>
            <a:off x="2781300" y="36766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↑ 9 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F3F42B-5C14-43EB-AE73-9D55D94EA39D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1↔2: 1.55 eV；μ₁₂ = 5 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F94EC4-F826-4502-9E93-7C259B6CAD9B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2↔3: 1.70 eV；μ₂₃ = 9 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D1D9D3-526F-4BA8-BE88-4F3EAF049234}"/>
              </a:ext>
            </a:extLst>
          </p:cNvPr>
          <p:cNvSpPr>
            <a:spLocks noGrp="1"/>
          </p:cNvSpPr>
          <p:nvPr/>
        </p:nvSpPr>
        <p:spPr>
          <a:xfrm>
            <a:off x="4095750" y="14668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主方程与数值条件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A87DFF-3A75-42AD-8C1D-C0DBD9DE169F}"/>
              </a:ext>
            </a:extLst>
          </p:cNvPr>
          <p:cNvSpPr>
            <a:spLocks noGrp="1"/>
          </p:cNvSpPr>
          <p:nvPr/>
        </p:nvSpPr>
        <p:spPr>
          <a:xfrm>
            <a:off x="4095750" y="20193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solver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9D6431-48EB-415F-9A5D-2EF5E52A43D9}"/>
              </a:ext>
            </a:extLst>
          </p:cNvPr>
          <p:cNvSpPr>
            <a:spLocks noGrp="1"/>
          </p:cNvSpPr>
          <p:nvPr/>
        </p:nvSpPr>
        <p:spPr>
          <a:xfrm>
            <a:off x="5810250" y="20193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lab_exact；pump+probe 全时非微扰传播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114E2908-4580-495F-9A34-A513FF05239B}"/>
              </a:ext>
            </a:extLst>
          </p:cNvPr>
          <p:cNvSpPr>
            <a:spLocks noGrp="1"/>
          </p:cNvSpPr>
          <p:nvPr/>
        </p:nvSpPr>
        <p:spPr>
          <a:xfrm>
            <a:off x="4095750" y="2457450"/>
            <a:ext cx="7067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524E5F-3387-4F09-B04B-4F25169C24F2}"/>
              </a:ext>
            </a:extLst>
          </p:cNvPr>
          <p:cNvSpPr>
            <a:spLocks noGrp="1"/>
          </p:cNvSpPr>
          <p:nvPr/>
        </p:nvSpPr>
        <p:spPr>
          <a:xfrm>
            <a:off x="4095750" y="26479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time grid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9D0456-783F-4DD6-A814-D1B9017F3F67}"/>
              </a:ext>
            </a:extLst>
          </p:cNvPr>
          <p:cNvSpPr>
            <a:spLocks noGrp="1"/>
          </p:cNvSpPr>
          <p:nvPr/>
        </p:nvSpPr>
        <p:spPr>
          <a:xfrm>
            <a:off x="5810250" y="26479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−1500…+1500 fs；dt = 0.2 fs；15000 points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9A1B53EA-F1C3-40E1-ACCD-BDD332DAFBCC}"/>
              </a:ext>
            </a:extLst>
          </p:cNvPr>
          <p:cNvSpPr>
            <a:spLocks noGrp="1"/>
          </p:cNvSpPr>
          <p:nvPr/>
        </p:nvSpPr>
        <p:spPr>
          <a:xfrm>
            <a:off x="4095750" y="3086100"/>
            <a:ext cx="7067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A6A014-4BCF-4F21-AEAA-A370B9BAE921}"/>
              </a:ext>
            </a:extLst>
          </p:cNvPr>
          <p:cNvSpPr>
            <a:spLocks noGrp="1"/>
          </p:cNvSpPr>
          <p:nvPr/>
        </p:nvSpPr>
        <p:spPr>
          <a:xfrm>
            <a:off x="4095750" y="32766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pure dephasing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258DFD-B5C0-412E-8119-A58B83DA72BE}"/>
              </a:ext>
            </a:extLst>
          </p:cNvPr>
          <p:cNvSpPr>
            <a:spLocks noGrp="1"/>
          </p:cNvSpPr>
          <p:nvPr/>
        </p:nvSpPr>
        <p:spPr>
          <a:xfrm>
            <a:off x="5810250" y="3276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Γφ,₁ = 0；Γφ,₂ = 1/120；Γφ,₃ = 1/100 fs⁻¹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7733EA8-2BE2-46D0-BA41-BCC918960290}"/>
              </a:ext>
            </a:extLst>
          </p:cNvPr>
          <p:cNvSpPr>
            <a:spLocks noGrp="1"/>
          </p:cNvSpPr>
          <p:nvPr/>
        </p:nvSpPr>
        <p:spPr>
          <a:xfrm>
            <a:off x="4095750" y="3714750"/>
            <a:ext cx="7067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BE6137-79C7-465D-A76C-4721A1BA63CE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population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3BC2479-3911-4D53-836A-C259B551C424}"/>
              </a:ext>
            </a:extLst>
          </p:cNvPr>
          <p:cNvSpPr>
            <a:spLocks noGrp="1"/>
          </p:cNvSpPr>
          <p:nvPr/>
        </p:nvSpPr>
        <p:spPr>
          <a:xfrm>
            <a:off x="5810250" y="39052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generated system 中无 population relaxation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35B1450E-B335-4AD7-889F-F5232B1C9E92}"/>
              </a:ext>
            </a:extLst>
          </p:cNvPr>
          <p:cNvSpPr>
            <a:spLocks noGrp="1"/>
          </p:cNvSpPr>
          <p:nvPr/>
        </p:nvSpPr>
        <p:spPr>
          <a:xfrm>
            <a:off x="4095750" y="4343400"/>
            <a:ext cx="7067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07C840E-3E7D-496F-B050-B4AAFF8F8E0E}"/>
              </a:ext>
            </a:extLst>
          </p:cNvPr>
          <p:cNvSpPr>
            <a:spLocks noGrp="1"/>
          </p:cNvSpPr>
          <p:nvPr/>
        </p:nvSpPr>
        <p:spPr>
          <a:xfrm>
            <a:off x="4095750" y="4548187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3E9BC0-6EC7-4885-9B5B-FFC9C3C97B39}"/>
              </a:ext>
            </a:extLst>
          </p:cNvPr>
          <p:cNvSpPr>
            <a:spLocks noGrp="1"/>
          </p:cNvSpPr>
          <p:nvPr/>
        </p:nvSpPr>
        <p:spPr>
          <a:xfrm>
            <a:off x="5810250" y="4548187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Hann；subtract mean；zero padding ×4</a:t>
            </a: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B0C5DAAB-69D9-4EBF-9644-2A6D4CEDF2CC}"/>
              </a:ext>
            </a:extLst>
          </p:cNvPr>
          <p:cNvSpPr>
            <a:spLocks noGrp="1"/>
          </p:cNvSpPr>
          <p:nvPr/>
        </p:nvSpPr>
        <p:spPr>
          <a:xfrm>
            <a:off x="4095750" y="4986337"/>
            <a:ext cx="7067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359F65-E80A-4336-A728-575E7B6775E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显示采用一基能级 |1⟩,|2⟩,|3⟩；对应 solver indices 0,1,2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4CD8A6-3D7D-44FD-A3FE-EA43A9879EB6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839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42C5538-BD2C-474F-A239-D548479D00E7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EXPERIMENTAL / NUMERICAL CONDITIONS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3F40A6E-7E3B-4A4C-BE19-40447EA58E7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脉冲、delay 与 detection window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55FF384-B7E7-43DA-B90E-E6C6867EB79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86FD0C-9438-4484-A453-73980B58BE0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pump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D48EFF-A918-4D80-9E0C-388A8B34A498}"/>
              </a:ext>
            </a:extLst>
          </p:cNvPr>
          <p:cNvSpPr>
            <a:spLocks noGrp="1"/>
          </p:cNvSpPr>
          <p:nvPr/>
        </p:nvSpPr>
        <p:spPr>
          <a:xfrm>
            <a:off x="6172200" y="15240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probe / LO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B36C4B-3930-4CD6-850C-419AD124D811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场强：0.300 MV/cm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6BF5CB-DED3-4F95-B719-F58AF0714DD3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中心能量：1.55 eV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6D308A-7324-4A9D-B385-8934B567ECDB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Gaussian σ：12 fs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752623-1FCE-47CC-BD07-BBA89173FFE4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中心时刻：−100 fs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63D642-F283-4412-B2DF-FC6D41E629F9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场强：0.008 MV/cm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4F2F45-B744-4009-A467-2FF5E5702380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中心能量：1.62 eV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47AAB3-2989-4E49-9695-E9F43366453A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Gaussian σ：7 fs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FC2932-EE36-48DB-853C-622A48E376BF}"/>
              </a:ext>
            </a:extLst>
          </p:cNvPr>
          <p:cNvSpPr>
            <a:spLocks noGrp="1"/>
          </p:cNvSpPr>
          <p:nvPr/>
        </p:nvSpPr>
        <p:spPr>
          <a:xfrm>
            <a:off x="6324600" y="3619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中心时刻：0 fs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7CCC47BD-2850-4247-93B5-7B30B8A5FF2C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6F63A5-03E8-4655-9579-F050AFDCD470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13525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1A529C-E0F5-4A3F-BDA3-2CBBEE4AAD3B}"/>
              </a:ext>
            </a:extLst>
          </p:cNvPr>
          <p:cNvSpPr>
            <a:spLocks noGrp="1"/>
          </p:cNvSpPr>
          <p:nvPr/>
        </p:nvSpPr>
        <p:spPr>
          <a:xfrm>
            <a:off x="895350" y="4610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delay convention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5F4C82-0B26-4750-8DBC-A91264089250}"/>
              </a:ext>
            </a:extLst>
          </p:cNvPr>
          <p:cNvSpPr>
            <a:spLocks noGrp="1"/>
          </p:cNvSpPr>
          <p:nvPr/>
        </p:nvSpPr>
        <p:spPr>
          <a:xfrm>
            <a:off x="3048000" y="459105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delay = probe center − pump center = +100 fs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123FFA-89AD-46C0-8853-36A3882654F7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phase grids: N_pu = N_pr = 8；N=16 用于收敛与完整 phase-order map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A06DA8-67C1-4B63-962B-62FF84E73CDB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fixed LO phase = 0；detection window = 1.40–1.80 eV；field threshold = 10⁻⁶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3CFC51-5920-4338-92DF-091105EFF83D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876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AACC9CB2-30DC-46A2-93F0-1CDC4C15EA9C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ANALYSIS PIPELINE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0BBAF69-2C90-4F48-A54D-762FC9F46BF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读取已有 checkpoint，detector 与投影可重复分析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FAC7020-673B-4AC0-B62C-4FB43C0E0E5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845B0D-63C2-45A6-8F4B-7ADF6CCE259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65735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C2C98D-F990-4A5E-85B0-0FF593D3A3C3}"/>
              </a:ext>
            </a:extLst>
          </p:cNvPr>
          <p:cNvSpPr>
            <a:spLocks noGrp="1"/>
          </p:cNvSpPr>
          <p:nvPr/>
        </p:nvSpPr>
        <p:spPr>
          <a:xfrm>
            <a:off x="3028950" y="1638300"/>
            <a:ext cx="165735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BF97C1-34D0-40CD-9DBE-E124341646BD}"/>
              </a:ext>
            </a:extLst>
          </p:cNvPr>
          <p:cNvSpPr>
            <a:spLocks noGrp="1"/>
          </p:cNvSpPr>
          <p:nvPr/>
        </p:nvSpPr>
        <p:spPr>
          <a:xfrm>
            <a:off x="5372100" y="1638300"/>
            <a:ext cx="165735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D12F74-47C6-4022-A2AA-A81DFC9EA2B5}"/>
              </a:ext>
            </a:extLst>
          </p:cNvPr>
          <p:cNvSpPr>
            <a:spLocks noGrp="1"/>
          </p:cNvSpPr>
          <p:nvPr/>
        </p:nvSpPr>
        <p:spPr>
          <a:xfrm>
            <a:off x="7715250" y="1638300"/>
            <a:ext cx="165735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9031D0-6077-4714-AFF6-C4A55533BEE9}"/>
              </a:ext>
            </a:extLst>
          </p:cNvPr>
          <p:cNvSpPr>
            <a:spLocks noGrp="1"/>
          </p:cNvSpPr>
          <p:nvPr/>
        </p:nvSpPr>
        <p:spPr>
          <a:xfrm>
            <a:off x="10058400" y="1638300"/>
            <a:ext cx="142875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cxnSp>
        <p:nvCxnSpPr>
          <p:cNvPr id="42" name="直接箭头连接符 41"/>
          <p:cNvCxnSpPr>
            <a:stCxn id="4" idx="3"/>
            <a:endCxn id="5" idx="1"/>
          </p:cNvCxnSpPr>
          <p:nvPr/>
        </p:nvCxnSpPr>
        <p:spPr>
          <a:xfrm>
            <a:off x="2343150" y="2028825"/>
            <a:ext cx="685800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43" name="直接箭头连接符 42"/>
          <p:cNvCxnSpPr>
            <a:stCxn id="5" idx="3"/>
            <a:endCxn id="6" idx="1"/>
          </p:cNvCxnSpPr>
          <p:nvPr/>
        </p:nvCxnSpPr>
        <p:spPr>
          <a:xfrm>
            <a:off x="4686300" y="2028825"/>
            <a:ext cx="685800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44" name="直接箭头连接符 43"/>
          <p:cNvCxnSpPr>
            <a:stCxn id="6" idx="3"/>
            <a:endCxn id="7" idx="1"/>
          </p:cNvCxnSpPr>
          <p:nvPr/>
        </p:nvCxnSpPr>
        <p:spPr>
          <a:xfrm>
            <a:off x="7029450" y="2028825"/>
            <a:ext cx="685800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sm" len="sm"/>
          </a:ln>
        </p:spPr>
      </p:cxnSp>
      <p:cxnSp>
        <p:nvCxnSpPr>
          <p:cNvPr id="45" name="直接箭头连接符 44"/>
          <p:cNvCxnSpPr>
            <a:stCxn id="7" idx="3"/>
            <a:endCxn id="8" idx="1"/>
          </p:cNvCxnSpPr>
          <p:nvPr/>
        </p:nvCxnSpPr>
        <p:spPr>
          <a:xfrm>
            <a:off x="9372600" y="2028825"/>
            <a:ext cx="685800" cy="0"/>
          </a:xfrm>
          <a:prstGeom prst="straightConnector1">
            <a:avLst/>
          </a:prstGeom>
          <a:ln w="19050">
            <a:solidFill>
              <a:srgbClr val="4B5563"/>
            </a:solidFill>
            <a:prstDash val="solid"/>
            <a:tailEnd type="arrow" w="sm" len="sm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68E903B-8185-4294-A44B-804FF13066F7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saved P(t)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EEF7-A80F-406C-967D-1869B7F07415}"/>
              </a:ext>
            </a:extLst>
          </p:cNvPr>
          <p:cNvSpPr>
            <a:spLocks noGrp="1"/>
          </p:cNvSpPr>
          <p:nvPr/>
        </p:nvSpPr>
        <p:spPr>
          <a:xfrm>
            <a:off x="3105150" y="18669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FFT → P(ω)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3180FC-C071-4F9E-A425-DA58CE3829A6}"/>
              </a:ext>
            </a:extLst>
          </p:cNvPr>
          <p:cNvSpPr>
            <a:spLocks noGrp="1"/>
          </p:cNvSpPr>
          <p:nvPr/>
        </p:nvSpPr>
        <p:spPr>
          <a:xfrm>
            <a:off x="5448300" y="18669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E_sig / detector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15EEB2-BD6C-4E08-A51F-F60D63C45B2A}"/>
              </a:ext>
            </a:extLst>
          </p:cNvPr>
          <p:cNvSpPr>
            <a:spLocks noGrp="1"/>
          </p:cNvSpPr>
          <p:nvPr/>
        </p:nvSpPr>
        <p:spPr>
          <a:xfrm>
            <a:off x="7791450" y="18669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2D DFT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C9C96B-F026-4FF6-B1A7-0D96C87C229F}"/>
              </a:ext>
            </a:extLst>
          </p:cNvPr>
          <p:cNvSpPr>
            <a:spLocks noGrp="1"/>
          </p:cNvSpPr>
          <p:nvPr/>
        </p:nvSpPr>
        <p:spPr>
          <a:xfrm>
            <a:off x="10134600" y="1866900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S_mpu,mpr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49E4EA-55E9-41C2-B6C5-85D79C280B01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本轮 detector/readout 与画图修改不触发主方程重跑；源 checkpoint 数保持 344。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29A59E-8223-41C9-AD29-C521940D1519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381250" cy="5524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7675D1-F293-440F-AED6-17EC56F42F70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[F3] E_sig(ω)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43B0DC-B572-4F6D-B618-59E579704518}"/>
              </a:ext>
            </a:extLst>
          </p:cNvPr>
          <p:cNvSpPr>
            <a:spLocks noGrp="1"/>
          </p:cNvSpPr>
          <p:nvPr/>
        </p:nvSpPr>
        <p:spPr>
          <a:xfrm>
            <a:off x="3409950" y="3486150"/>
            <a:ext cx="2381250" cy="5524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0380D8-D65C-410C-B67D-48C621B2886F}"/>
              </a:ext>
            </a:extLst>
          </p:cNvPr>
          <p:cNvSpPr>
            <a:spLocks noGrp="1"/>
          </p:cNvSpPr>
          <p:nvPr/>
        </p:nvSpPr>
        <p:spPr>
          <a:xfrm>
            <a:off x="3543300" y="358140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[F4] exact detector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9ED811-306A-4A73-9315-2B4541441ABB}"/>
              </a:ext>
            </a:extLst>
          </p:cNvPr>
          <p:cNvSpPr>
            <a:spLocks noGrp="1"/>
          </p:cNvSpPr>
          <p:nvPr/>
        </p:nvSpPr>
        <p:spPr>
          <a:xfrm>
            <a:off x="6134100" y="3486150"/>
            <a:ext cx="2381250" cy="5524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8E7608-5A27-45C7-BA13-F52DCC64D4E7}"/>
              </a:ext>
            </a:extLst>
          </p:cNvPr>
          <p:cNvSpPr>
            <a:spLocks noGrp="1"/>
          </p:cNvSpPr>
          <p:nvPr/>
        </p:nvSpPr>
        <p:spPr>
          <a:xfrm>
            <a:off x="6267450" y="358140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[F5] weak heterodyne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5C8F10-D9E0-4A58-BE58-F6CC8CD7E387}"/>
              </a:ext>
            </a:extLst>
          </p:cNvPr>
          <p:cNvSpPr>
            <a:spLocks noGrp="1"/>
          </p:cNvSpPr>
          <p:nvPr/>
        </p:nvSpPr>
        <p:spPr>
          <a:xfrm>
            <a:off x="8858250" y="3486150"/>
            <a:ext cx="2647950" cy="5524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9B0D86-B31C-462A-9026-1C462400BE74}"/>
              </a:ext>
            </a:extLst>
          </p:cNvPr>
          <p:cNvSpPr>
            <a:spLocks noGrp="1"/>
          </p:cNvSpPr>
          <p:nvPr/>
        </p:nvSpPr>
        <p:spPr>
          <a:xfrm>
            <a:off x="8991600" y="3581400"/>
            <a:ext cx="2495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[F6] 2D Fourier projection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99F82C-F1D4-4E54-8F6D-B89ED1D817B4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F072B74-89CB-43D8-BF78-A176693F164F}"/>
              </a:ext>
            </a:extLst>
          </p:cNvPr>
          <p:cNvSpPr>
            <a:spLocks noGrp="1"/>
          </p:cNvSpPr>
          <p:nvPr/>
        </p:nvSpPr>
        <p:spPr>
          <a:xfrm>
            <a:off x="1047750" y="4514850"/>
            <a:ext cx="10210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exact：比较 pump-on / pump-off 的总探测场强度。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079D76-70D5-4E73-91F3-0315E5EA8435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547823-5976-47E1-8867-598A90AB3B28}"/>
              </a:ext>
            </a:extLst>
          </p:cNvPr>
          <p:cNvSpPr>
            <a:spLocks noGrp="1"/>
          </p:cNvSpPr>
          <p:nvPr/>
        </p:nvSpPr>
        <p:spPr>
          <a:xfrm>
            <a:off x="1047750" y="4953000"/>
            <a:ext cx="10210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weak：只保留固定 LO 与 ΔP 的线性交叉项。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A504CF-C541-4673-AB62-4C181587D23B}"/>
              </a:ext>
            </a:extLst>
          </p:cNvPr>
          <p:cNvSpPr>
            <a:spLocks noGrp="1"/>
          </p:cNvSpPr>
          <p:nvPr/>
        </p:nvSpPr>
        <p:spPr>
          <a:xfrm>
            <a:off x="781050" y="5391150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E1ADEE6-7797-4D5D-84AB-C25AA9005B2B}"/>
              </a:ext>
            </a:extLst>
          </p:cNvPr>
          <p:cNvSpPr>
            <a:spLocks noGrp="1"/>
          </p:cNvSpPr>
          <p:nvPr/>
        </p:nvSpPr>
        <p:spPr>
          <a:xfrm>
            <a:off x="1047750" y="5391150"/>
            <a:ext cx="10210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projection normalization </a:t>
            </a:r>
            <a:r>
              <a:rPr sz="1500" b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使用实际</a:t>
            </a:r>
            <a:r>
              <a:rPr sz="1500" b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N_pu</a:t>
            </a:r>
            <a:r>
              <a:rPr sz="1500" b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× </a:t>
            </a:r>
            <a:r>
              <a:rPr sz="1500" b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N_pr</a:t>
            </a:r>
            <a:r>
              <a:rPr sz="1500" b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ECAF2DE-CFBB-4561-9AC3-2FDBCDF578AE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430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7B95EB1-0E0F-48B8-914E-F2201868F40F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PHASE-ORDER MAP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52A7BE6-779D-4FAE-8C78-E218BDFF903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 S_mpu,mpr 记号：全局强项为 S₋₁,₀ / S₁,₀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13C0531-5A51-4D53-9F38-310B5E7634D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CEA9C6-F98B-45B0-B169-15F2681D76A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第 1 下标 = pump order（纵轴）；第 2 下标 = interaction-probe order（横轴）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41" y="1466850"/>
            <a:ext cx="4718717" cy="40957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70341" y="1466850"/>
            <a:ext cx="4718717" cy="4095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42A0E97-C1C6-490B-B485-740D76C89EE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detector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7749FA-828B-4E08-B87C-3270E8051E92}"/>
              </a:ext>
            </a:extLst>
          </p:cNvPr>
          <p:cNvSpPr>
            <a:spLocks noGrp="1"/>
          </p:cNvSpPr>
          <p:nvPr/>
        </p:nvSpPr>
        <p:spPr>
          <a:xfrm>
            <a:off x="6553200" y="56197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Weak heterodyne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12193F-C80A-4431-B17F-6F3F85A3BA9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黄色点 (x=0, y=±1) → S±1,0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D2E908-C34F-446E-967B-B70073B4B1C4}"/>
              </a:ext>
            </a:extLst>
          </p:cNvPr>
          <p:cNvSpPr>
            <a:spLocks noGrp="1"/>
          </p:cNvSpPr>
          <p:nvPr/>
        </p:nvSpPr>
        <p:spPr>
          <a:xfrm>
            <a:off x="6553200" y="5905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S₀,±1 位于 (x=±1, y=0)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17E403-B394-43FB-ACA2-11414CB5AB2F}"/>
              </a:ext>
            </a:extLst>
          </p:cNvPr>
          <p:cNvSpPr>
            <a:spLocks noGrp="1"/>
          </p:cNvSpPr>
          <p:nvPr/>
        </p:nvSpPr>
        <p:spPr>
          <a:xfrm>
            <a:off x="1714500" y="61912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max：|S±1,0| = 1.162×10⁻²；|S₀,±1| = 6.097×10⁻⁶（约相差 1906 倍）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28CA7-6BC1-4F4F-B0FB-F2FBE346DFA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图：exact_detector_phase_order_map.png / heterodyne_phase_order_map.png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0535DD-B633-497C-B36A-4A27CCC9E97D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328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A0CFA40-AA79-41D1-A023-F04A0E2BFA3D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PRIMARY CHANNELS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EF88CB9-6E2F-434A-A379-AF49C78872A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主要通道的 exact 与 weak heterodyne 对比素材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36EF4EC-25A0-4347-A95A-E6D47CDA2A7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6286" y="1257300"/>
            <a:ext cx="5120828" cy="4762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EAF688-093B-4DF8-BA9F-8F56F02C165D}"/>
              </a:ext>
            </a:extLst>
          </p:cNvPr>
          <p:cNvSpPr>
            <a:spLocks noGrp="1"/>
          </p:cNvSpPr>
          <p:nvPr/>
        </p:nvSpPr>
        <p:spPr>
          <a:xfrm>
            <a:off x="8020050" y="13906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N=16 exact S₀,₁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A4C93D-71C0-4E1E-AC5B-54DBDE877979}"/>
              </a:ext>
            </a:extLst>
          </p:cNvPr>
          <p:cNvSpPr>
            <a:spLocks noGrp="1"/>
          </p:cNvSpPr>
          <p:nvPr/>
        </p:nvSpPr>
        <p:spPr>
          <a:xfrm>
            <a:off x="8020050" y="190500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peak：1.55176 eV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0DFFBF-4599-42EA-A442-44DCE9639A40}"/>
              </a:ext>
            </a:extLst>
          </p:cNvPr>
          <p:cNvSpPr>
            <a:spLocks noGrp="1"/>
          </p:cNvSpPr>
          <p:nvPr/>
        </p:nvSpPr>
        <p:spPr>
          <a:xfrm>
            <a:off x="8020050" y="236220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max |S|：6.097×10⁻⁶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BE8497-9FAA-49D9-BE3F-7F447C2DCBD2}"/>
              </a:ext>
            </a:extLst>
          </p:cNvPr>
          <p:cNvSpPr>
            <a:spLocks noGrp="1"/>
          </p:cNvSpPr>
          <p:nvPr/>
        </p:nvSpPr>
        <p:spPr>
          <a:xfrm>
            <a:off x="8020050" y="281940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∫|S|dE：3.318×10⁻⁷ eV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D3BACC-85E4-4D8C-BE6B-972F1DA7E310}"/>
              </a:ext>
            </a:extLst>
          </p:cNvPr>
          <p:cNvSpPr>
            <a:spLocks noGrp="1"/>
          </p:cNvSpPr>
          <p:nvPr/>
        </p:nvSpPr>
        <p:spPr>
          <a:xfrm>
            <a:off x="8020050" y="327660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absorption peak：+4.483×10⁻⁶ @ 1.70006 eV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958D66-0E6B-4952-90EB-070735E3DB03}"/>
              </a:ext>
            </a:extLst>
          </p:cNvPr>
          <p:cNvSpPr>
            <a:spLocks noGrp="1"/>
          </p:cNvSpPr>
          <p:nvPr/>
        </p:nvSpPr>
        <p:spPr>
          <a:xfrm>
            <a:off x="8020050" y="3733800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emission |peak|：5.667×10⁻⁶ @ 1.55113 eV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383E995-0C5C-435D-A1D1-5DF11994758F}"/>
              </a:ext>
            </a:extLst>
          </p:cNvPr>
          <p:cNvSpPr>
            <a:spLocks noGrp="1"/>
          </p:cNvSpPr>
          <p:nvPr/>
        </p:nvSpPr>
        <p:spPr>
          <a:xfrm>
            <a:off x="8020050" y="4362450"/>
            <a:ext cx="34861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41D0B3-B348-49B6-ABB7-18C98AECBFBC}"/>
              </a:ext>
            </a:extLst>
          </p:cNvPr>
          <p:cNvSpPr>
            <a:spLocks noGrp="1"/>
          </p:cNvSpPr>
          <p:nvPr/>
        </p:nvSpPr>
        <p:spPr>
          <a:xfrm>
            <a:off x="8020050" y="4552950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best-fit scale = 2.001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6DF07D-32C9-4B0D-BC4D-F46286CA5294}"/>
              </a:ext>
            </a:extLst>
          </p:cNvPr>
          <p:cNvSpPr>
            <a:spLocks noGrp="1"/>
          </p:cNvSpPr>
          <p:nvPr/>
        </p:nvSpPr>
        <p:spPr>
          <a:xfrm>
            <a:off x="8020050" y="4876800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scaled relative RMS = 0.112%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447518-D4B9-4DB2-BBF1-BC03892021FD}"/>
              </a:ext>
            </a:extLst>
          </p:cNvPr>
          <p:cNvSpPr>
            <a:spLocks noGrp="1"/>
          </p:cNvSpPr>
          <p:nvPr/>
        </p:nvSpPr>
        <p:spPr>
          <a:xfrm>
            <a:off x="8020050" y="5200650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|corr| = 0.999999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7234BA-F839-4E2E-88A2-8B7BE448F71D}"/>
              </a:ext>
            </a:extLst>
          </p:cNvPr>
          <p:cNvSpPr>
            <a:spLocks noGrp="1"/>
          </p:cNvSpPr>
          <p:nvPr/>
        </p:nvSpPr>
        <p:spPr>
          <a:xfrm>
            <a:off x="8020050" y="5619750"/>
            <a:ext cx="3486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完整原图包含 S₀,₁、S₀,₀、S₀,₂、S₂,₋₁。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9DBC47-7D53-4875-98C4-32B164380E7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完整图：primary_channels_exact_vs_heterodyne.png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89674B-AE9A-483E-9FDB-2A44C941886B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89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BFD047B-4439-46F4-B162-13D4AAC8CCB7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DETECTOR DECOMPOSITION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F7055D7-61FC-4380-9A2A-FE439E1EB80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S₀,₀ 几乎全部来自二次信号强度项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5732C8B-CF2C-4340-871D-E70FA42619D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984241"/>
            <a:ext cx="7810500" cy="28704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AD3CCC6-EFD3-4579-B948-0AD52912852A}"/>
              </a:ext>
            </a:extLst>
          </p:cNvPr>
          <p:cNvSpPr>
            <a:spLocks noGrp="1"/>
          </p:cNvSpPr>
          <p:nvPr/>
        </p:nvSpPr>
        <p:spPr>
          <a:xfrm>
            <a:off x="8858250" y="14859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关键量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D067B3-AECA-4CDA-A86E-6782364CFA08}"/>
              </a:ext>
            </a:extLst>
          </p:cNvPr>
          <p:cNvSpPr>
            <a:spLocks noGrp="1"/>
          </p:cNvSpPr>
          <p:nvPr/>
        </p:nvSpPr>
        <p:spPr>
          <a:xfrm>
            <a:off x="8858250" y="2057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exact max |S₀,₀|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1F7D6A-09D9-499D-A7AD-FB162D14B6E1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1.354×10⁻⁴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D78935-079A-48E7-B95D-5070512D03F1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max |S₀,₀| / max |S₀,₁|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1C1711-FD5D-4FD8-A346-65C2C97BC4F4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22.20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F1C4F8-C06D-4B87-90A6-B8EE9B73170F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quadratic peak fraction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9E84F1-40DE-4B3A-B48C-834AE453D038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99.81%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E8600D-6711-461A-A85B-127C135372E6}"/>
              </a:ext>
            </a:extLst>
          </p:cNvPr>
          <p:cNvSpPr>
            <a:spLocks noGrp="1"/>
          </p:cNvSpPr>
          <p:nvPr/>
        </p:nvSpPr>
        <p:spPr>
          <a:xfrm>
            <a:off x="8858250" y="4953000"/>
            <a:ext cx="2647950" cy="5905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7EC8FA-CE05-42F8-B59E-05816D2B8306}"/>
              </a:ext>
            </a:extLst>
          </p:cNvPr>
          <p:cNvSpPr>
            <a:spLocks noGrp="1"/>
          </p:cNvSpPr>
          <p:nvPr/>
        </p:nvSpPr>
        <p:spPr>
          <a:xfrm>
            <a:off x="8991600" y="50482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[F7] exact detector decomposition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71A4DD-F94D-4DC9-B67C-8D1148C2CA3E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解释：这不是 weak-heterodyne 线性项的放大版本。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222398-2317-4340-AD32-C2EBDBE7011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图：exact_S_0_0_detector_decomposition.png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6B7AFA-DEAE-42E6-A6CF-E93DA66EBACF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922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D4E247-C3A9-4FBC-BD08-8E2E79A684A5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PHASE-STEP COMPARISON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3BCCD1B-5293-416B-B1EA-4E9967EB5DC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统一用 relative RMS：N=8 对目标 S₀,₁ 刚好达到 5%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154DA18-ED89-487B-8D28-192A542AA94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12816"/>
            <a:ext cx="7810500" cy="28704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AB042FE-4E16-4930-8F44-7758A400C82B}"/>
              </a:ext>
            </a:extLst>
          </p:cNvPr>
          <p:cNvSpPr>
            <a:spLocks noGrp="1"/>
          </p:cNvSpPr>
          <p:nvPr/>
        </p:nvSpPr>
        <p:spPr>
          <a:xfrm>
            <a:off x="8858250" y="16192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N=2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9C1FE-3487-4B8C-8095-94326C0C51FF}"/>
              </a:ext>
            </a:extLst>
          </p:cNvPr>
          <p:cNvSpPr>
            <a:spLocks noGrp="1"/>
          </p:cNvSpPr>
          <p:nvPr/>
        </p:nvSpPr>
        <p:spPr>
          <a:xfrm>
            <a:off x="8858250" y="19716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relative RMS = 101.2%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4CD1F3D5-63D1-4E8E-AD05-D305CD6806ED}"/>
              </a:ext>
            </a:extLst>
          </p:cNvPr>
          <p:cNvSpPr>
            <a:spLocks noGrp="1"/>
          </p:cNvSpPr>
          <p:nvPr/>
        </p:nvSpPr>
        <p:spPr>
          <a:xfrm>
            <a:off x="8858250" y="2362200"/>
            <a:ext cx="2476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F1BD0D-09A4-40F3-8C63-9D9748AB6EE9}"/>
              </a:ext>
            </a:extLst>
          </p:cNvPr>
          <p:cNvSpPr>
            <a:spLocks noGrp="1"/>
          </p:cNvSpPr>
          <p:nvPr/>
        </p:nvSpPr>
        <p:spPr>
          <a:xfrm>
            <a:off x="8858250" y="24384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N=4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C3F242-6E5D-4FE9-BD8E-5B982ED32E59}"/>
              </a:ext>
            </a:extLst>
          </p:cNvPr>
          <p:cNvSpPr>
            <a:spLocks noGrp="1"/>
          </p:cNvSpPr>
          <p:nvPr/>
        </p:nvSpPr>
        <p:spPr>
          <a:xfrm>
            <a:off x="8858250" y="27908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relative RMS = 13.86%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E073325C-9EEF-4E45-A54B-90C0E13D46F2}"/>
              </a:ext>
            </a:extLst>
          </p:cNvPr>
          <p:cNvSpPr>
            <a:spLocks noGrp="1"/>
          </p:cNvSpPr>
          <p:nvPr/>
        </p:nvSpPr>
        <p:spPr>
          <a:xfrm>
            <a:off x="8858250" y="3181350"/>
            <a:ext cx="2476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9D6883-6D17-458C-8B59-483B6DFA8ABB}"/>
              </a:ext>
            </a:extLst>
          </p:cNvPr>
          <p:cNvSpPr>
            <a:spLocks noGrp="1"/>
          </p:cNvSpPr>
          <p:nvPr/>
        </p:nvSpPr>
        <p:spPr>
          <a:xfrm>
            <a:off x="8858250" y="32575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N=8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44601E-CE32-4D5C-B801-12CED12E40D5}"/>
              </a:ext>
            </a:extLst>
          </p:cNvPr>
          <p:cNvSpPr>
            <a:spLocks noGrp="1"/>
          </p:cNvSpPr>
          <p:nvPr/>
        </p:nvSpPr>
        <p:spPr>
          <a:xfrm>
            <a:off x="8858250" y="3609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relative RMS = 4.96%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98E531F-3D04-43C2-BC44-18CAF1D9CBFD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476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2DD97B-BAA1-4E26-B859-1F71135C8941}"/>
              </a:ext>
            </a:extLst>
          </p:cNvPr>
          <p:cNvSpPr>
            <a:spLocks noGrp="1"/>
          </p:cNvSpPr>
          <p:nvPr/>
        </p:nvSpPr>
        <p:spPr>
          <a:xfrm>
            <a:off x="8858250" y="40767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N=16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C27F04-8021-4226-A6A2-C1C1086E9E46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relative RMS = 0% (reference)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9047BD-278E-4A5F-8339-2D5527CCAF0D}"/>
              </a:ext>
            </a:extLst>
          </p:cNvPr>
          <p:cNvSpPr>
            <a:spLocks noGrp="1"/>
          </p:cNvSpPr>
          <p:nvPr/>
        </p:nvSpPr>
        <p:spPr>
          <a:xfrm>
            <a:off x="8858250" y="4972050"/>
            <a:ext cx="2647950" cy="590550"/>
          </a:xfrm>
          <a:prstGeom prst="rect">
            <a:avLst/>
          </a:prstGeom>
          <a:solidFill>
            <a:srgbClr val="EAF2F8"/>
          </a:solidFill>
          <a:ln w="9525">
            <a:solidFill>
              <a:srgbClr val="93B4D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A14E91-69F2-400A-AE0A-D3E8C7450009}"/>
              </a:ext>
            </a:extLst>
          </p:cNvPr>
          <p:cNvSpPr>
            <a:spLocks noGrp="1"/>
          </p:cNvSpPr>
          <p:nvPr/>
        </p:nvSpPr>
        <p:spPr>
          <a:xfrm>
            <a:off x="8991600" y="50673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[F8] N=2 alias condition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B87AC0-D555-413C-9535-50C2F1BE9229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 S₀,₁：N=8 可用于当前探索；N=16 作为收敛参考。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9A8431-F3C0-44F0-A0F8-721B189BD312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图：target_S_0_1_N2_N4_N8_N16.png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F82A2E-17D9-485D-AB85-1EBDC95345D7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750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34141AA-69A6-4397-8782-55CF46FB7526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PUMP-ONLY vs 2D S₀,₁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5D6BF57-3407-4EBA-AF7E-5260C12A6BB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只做 pump cycling 不能替代 probe-order 投影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27CFE28-7EFD-4A16-9032-B36C1316E69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409700"/>
            <a:ext cx="7429500" cy="445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746C888-EC5D-44CA-AAE3-6DD77335937A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比较定义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4F76B-5804-4751-AEC1-1144A309CAE6}"/>
              </a:ext>
            </a:extLst>
          </p:cNvPr>
          <p:cNvSpPr>
            <a:spLocks noGrp="1"/>
          </p:cNvSpPr>
          <p:nvPr/>
        </p:nvSpPr>
        <p:spPr>
          <a:xfrm>
            <a:off x="8210550" y="1866900"/>
            <a:ext cx="321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pump-only：probe phase 固定为 0；对 N 个 pump phases 无权平均。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B79E83-AB31-4A16-A4CE-6A994DAD4621}"/>
              </a:ext>
            </a:extLst>
          </p:cNvPr>
          <p:cNvSpPr>
            <a:spLocks noGrp="1"/>
          </p:cNvSpPr>
          <p:nvPr/>
        </p:nvSpPr>
        <p:spPr>
          <a:xfrm>
            <a:off x="8210550" y="2628900"/>
            <a:ext cx="3219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2D S₀,₁：同时扫描 pump/probe，并对 probe order +1 加 Fourier 权重。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860443C4-1AD8-443C-858D-47744230551F}"/>
              </a:ext>
            </a:extLst>
          </p:cNvPr>
          <p:cNvSpPr>
            <a:spLocks noGrp="1"/>
          </p:cNvSpPr>
          <p:nvPr/>
        </p:nvSpPr>
        <p:spPr>
          <a:xfrm>
            <a:off x="8210550" y="3429000"/>
            <a:ext cx="32194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FCE051-4D3E-4900-8340-2470367F9553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max 幅值比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55D523-48B9-4C4F-9DD2-B4740D9153EB}"/>
              </a:ext>
            </a:extLst>
          </p:cNvPr>
          <p:cNvSpPr>
            <a:spLocks noGrp="1"/>
          </p:cNvSpPr>
          <p:nvPr/>
        </p:nvSpPr>
        <p:spPr>
          <a:xfrm>
            <a:off x="10077450" y="36004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20.49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4A8320-7481-491B-BC45-DDF56AAD2CCA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RMS 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8207C0-EF95-4189-AC8F-3A9CABDDC520}"/>
              </a:ext>
            </a:extLst>
          </p:cNvPr>
          <p:cNvSpPr>
            <a:spLocks noGrp="1"/>
          </p:cNvSpPr>
          <p:nvPr/>
        </p:nvSpPr>
        <p:spPr>
          <a:xfrm>
            <a:off x="10077450" y="40195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10.56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CCBC30-9390-4374-A560-CBAB25C624B1}"/>
              </a:ext>
            </a:extLst>
          </p:cNvPr>
          <p:cNvSpPr>
            <a:spLocks noGrp="1"/>
          </p:cNvSpPr>
          <p:nvPr/>
        </p:nvSpPr>
        <p:spPr>
          <a:xfrm>
            <a:off x="8210550" y="44767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∫|S|dE 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364651-3E99-43A0-B8B0-4D1A3AAC3655}"/>
              </a:ext>
            </a:extLst>
          </p:cNvPr>
          <p:cNvSpPr>
            <a:spLocks noGrp="1"/>
          </p:cNvSpPr>
          <p:nvPr/>
        </p:nvSpPr>
        <p:spPr>
          <a:xfrm>
            <a:off x="10077450" y="44386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4.00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A2485F-CB5B-4892-8CF4-E7CC9F32BF18}"/>
              </a:ext>
            </a:extLst>
          </p:cNvPr>
          <p:cNvSpPr>
            <a:spLocks noGrp="1"/>
          </p:cNvSpPr>
          <p:nvPr/>
        </p:nvSpPr>
        <p:spPr>
          <a:xfrm>
            <a:off x="8210550" y="5010150"/>
            <a:ext cx="3219450" cy="990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915150-4B38-4902-A1D2-A318620F2DA7}"/>
              </a:ext>
            </a:extLst>
          </p:cNvPr>
          <p:cNvSpPr>
            <a:spLocks noGrp="1"/>
          </p:cNvSpPr>
          <p:nvPr/>
        </p:nvSpPr>
        <p:spPr>
          <a:xfrm>
            <a:off x="8382000" y="5181600"/>
            <a:ext cx="2876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pump-only 平均保留所有 probe orders 的叠加，主要由 S₀,₀ 主导；二维投影才隔离 S₀,₁。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045581-3A5A-48CC-A35B-3664DD86C477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图/数据：pump_only_phase_cycling_vs_S_0_1.png / .csv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22BBA9-E73B-41F6-B09B-F5AC0607663D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7812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814F7E0-5B07-4A44-9A3B-BA407D3E6E94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DISCUSSION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3937001-59BB-4A7D-947C-686C6391A54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当前判断与下一步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AA230EB-3880-492E-9213-28DB06DF515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4F4572-C6FC-4C53-9634-0156D8E7E8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4D64CB-98D4-466D-886E-CE69CEAC6258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996207-840F-46A3-A0B5-DE5866F129C4}"/>
              </a:ext>
            </a:extLst>
          </p:cNvPr>
          <p:cNvSpPr>
            <a:spLocks noGrp="1"/>
          </p:cNvSpPr>
          <p:nvPr/>
        </p:nvSpPr>
        <p:spPr>
          <a:xfrm>
            <a:off x="1009650" y="20002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固定 LO 定义下，目标 phase-order 为 S₀,₁。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94B7A2-DE9D-4F9F-83DB-4B2FFCF3263B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463DC4-1D2E-43BA-9772-C41C74929B98}"/>
              </a:ext>
            </a:extLst>
          </p:cNvPr>
          <p:cNvSpPr>
            <a:spLocks noGrp="1"/>
          </p:cNvSpPr>
          <p:nvPr/>
        </p:nvSpPr>
        <p:spPr>
          <a:xfrm>
            <a:off x="1009650" y="266700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S₀,₁ 与 weak heterodyne 在缩放后高度一致。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CEDCE7-2281-409F-A8F2-A49C615E71BE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219ACC-A303-45DF-B545-3C5A79515149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S₀,₀ 很大，但主要是 |ΔE_sig|² / I_off。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568993-8230-4C5A-955B-66924A01CA2F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6AC5C-8E96-4296-AA67-7B3606BDBFA8}"/>
              </a:ext>
            </a:extLst>
          </p:cNvPr>
          <p:cNvSpPr>
            <a:spLocks noGrp="1"/>
          </p:cNvSpPr>
          <p:nvPr/>
        </p:nvSpPr>
        <p:spPr>
          <a:xfrm>
            <a:off x="1009650" y="400050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S±1,0 全局最强；是否可见取决于实验空间/相位匹配。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DC1ACA-823C-4254-A2B0-281AF34AAD1C}"/>
              </a:ext>
            </a:extLst>
          </p:cNvPr>
          <p:cNvSpPr>
            <a:spLocks noGrp="1"/>
          </p:cNvSpPr>
          <p:nvPr/>
        </p:nvSpPr>
        <p:spPr>
          <a:xfrm>
            <a:off x="6438900" y="14668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建议的下一轮条件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791929-A6B0-4B95-921F-367C6E504805}"/>
              </a:ext>
            </a:extLst>
          </p:cNvPr>
          <p:cNvSpPr>
            <a:spLocks noGrp="1"/>
          </p:cNvSpPr>
          <p:nvPr/>
        </p:nvSpPr>
        <p:spPr>
          <a:xfrm>
            <a:off x="6496050" y="20002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13F1ED-FA3B-4E24-A096-28E5E7266415}"/>
              </a:ext>
            </a:extLst>
          </p:cNvPr>
          <p:cNvSpPr>
            <a:spLocks noGrp="1"/>
          </p:cNvSpPr>
          <p:nvPr/>
        </p:nvSpPr>
        <p:spPr>
          <a:xfrm>
            <a:off x="6762750" y="20002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保持 fixed LO，扫描 delay = −100 / 0 / +100 fs。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0ED5B4-C431-4DF0-863F-112B90508CD1}"/>
              </a:ext>
            </a:extLst>
          </p:cNvPr>
          <p:cNvSpPr>
            <a:spLocks noGrp="1"/>
          </p:cNvSpPr>
          <p:nvPr/>
        </p:nvSpPr>
        <p:spPr>
          <a:xfrm>
            <a:off x="6496050" y="26670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AD30AC-B80D-4F93-80D7-232B1E632685}"/>
              </a:ext>
            </a:extLst>
          </p:cNvPr>
          <p:cNvSpPr>
            <a:spLocks noGrp="1"/>
          </p:cNvSpPr>
          <p:nvPr/>
        </p:nvSpPr>
        <p:spPr>
          <a:xfrm>
            <a:off x="6762750" y="266700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 S₀,₁ 可先用 N=8，N=16 保留为收敛参考。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A59925-18BF-468D-8F1E-EFE3292B6BBF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1E30B-859F-4C22-9F30-FF1C86043F36}"/>
              </a:ext>
            </a:extLst>
          </p:cNvPr>
          <p:cNvSpPr>
            <a:spLocks noGrp="1"/>
          </p:cNvSpPr>
          <p:nvPr/>
        </p:nvSpPr>
        <p:spPr>
          <a:xfrm>
            <a:off x="6762750" y="33337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校准 C_rad / 几何因子后再解释 exact 绝对强度。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3A88EF-7FEE-4FC1-93EA-9CA6A903B47A}"/>
              </a:ext>
            </a:extLst>
          </p:cNvPr>
          <p:cNvSpPr>
            <a:spLocks noGrp="1"/>
          </p:cNvSpPr>
          <p:nvPr/>
        </p:nvSpPr>
        <p:spPr>
          <a:xfrm>
            <a:off x="6496050" y="4000500"/>
            <a:ext cx="228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463D17-7A23-4E4C-9450-54ED1FA2C830}"/>
              </a:ext>
            </a:extLst>
          </p:cNvPr>
          <p:cNvSpPr>
            <a:spLocks noGrp="1"/>
          </p:cNvSpPr>
          <p:nvPr/>
        </p:nvSpPr>
        <p:spPr>
          <a:xfrm>
            <a:off x="6762750" y="400050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比较 pump-only 与二维 cycling，确认 probe-order 投影的实验必要性。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70385B2-628A-459A-96C1-E15998910ED2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CA2727-24D7-41FB-87C8-8D1AF431B02C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723900"/>
          </a:xfrm>
          <a:prstGeom prst="rect">
            <a:avLst/>
          </a:prstGeom>
          <a:solidFill>
            <a:srgbClr val="FFF7ED"/>
          </a:solidFill>
          <a:ln w="9525">
            <a:solidFill>
              <a:srgbClr val="D6A16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C991C4-4C14-4AED-8C38-AEEFD360C691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限制：当前 C_rad = 1，只验证相对谱形与 phase-order 结构，不解释绝对 detector intensity。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1592E0-1783-4A10-B270-B08F6E475F6A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425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7180DD6-EE84-4517-A115-55609FCE93D7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EDITING INDEX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11DA65E-587B-4D73-B623-221862FFE69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图表与公式索引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2920C8C-BFC0-4FDA-9F07-DB9F2012B1F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09FF00-EC08-4277-A8C7-2724368569B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主题 → 建议图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F0EF31-F6DD-4929-BFE6-F80573D86AC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phase-order 全局结构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587619-C239-4324-879F-6292AC1DBBB7}"/>
              </a:ext>
            </a:extLst>
          </p:cNvPr>
          <p:cNvSpPr>
            <a:spLocks noGrp="1"/>
          </p:cNvSpPr>
          <p:nvPr/>
        </p:nvSpPr>
        <p:spPr>
          <a:xfrm>
            <a:off x="3143250" y="186690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exact_detector_phase_order_map.png</a:t>
            </a:r>
          </a:p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heterodyne_phase_order_map.png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CA60E8DE-80C4-413C-88F5-B58A116A366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3A4B42-E3CD-4466-9B06-EE7EE942FDC2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 S₀,₁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D14782-D556-4946-9469-9B0E25F3ADC3}"/>
              </a:ext>
            </a:extLst>
          </p:cNvPr>
          <p:cNvSpPr>
            <a:spLocks noGrp="1"/>
          </p:cNvSpPr>
          <p:nvPr/>
        </p:nvSpPr>
        <p:spPr>
          <a:xfrm>
            <a:off x="3143250" y="249555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primary_channels_exact_vs_heterodyne.png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668DBBAA-087C-45FE-B894-64D4463FE115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0C9E37-24DD-432C-95D4-935A27E615FC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S₀,₀ 来源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AAC564-1E6F-4538-A695-79A1E1823A14}"/>
              </a:ext>
            </a:extLst>
          </p:cNvPr>
          <p:cNvSpPr>
            <a:spLocks noGrp="1"/>
          </p:cNvSpPr>
          <p:nvPr/>
        </p:nvSpPr>
        <p:spPr>
          <a:xfrm>
            <a:off x="3143250" y="312420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exact_S_0_0_detector_decomposition.png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74B0E795-85B6-4D4B-88AB-A81B750B771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1B25B6-955A-4B11-B2F6-9CFF5C86B2E4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phase-step 收敛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3DBEE5-D788-477F-8DD8-4380FAC15F60}"/>
              </a:ext>
            </a:extLst>
          </p:cNvPr>
          <p:cNvSpPr>
            <a:spLocks noGrp="1"/>
          </p:cNvSpPr>
          <p:nvPr/>
        </p:nvSpPr>
        <p:spPr>
          <a:xfrm>
            <a:off x="3143250" y="375285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target_S_0_1_N2_N4_N8_N16.png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6C1D6B87-1D59-414F-B944-13DD765E5875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05020D-4DCD-49A9-9BC2-692B41F961AB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pump-only vs 2D S₀,₁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B7D97A-770E-48FF-A76F-9A26B731EABE}"/>
              </a:ext>
            </a:extLst>
          </p:cNvPr>
          <p:cNvSpPr>
            <a:spLocks noGrp="1"/>
          </p:cNvSpPr>
          <p:nvPr/>
        </p:nvSpPr>
        <p:spPr>
          <a:xfrm>
            <a:off x="3143250" y="438150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pump_only_phase_cycling_vs_S_0_1.png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1EC5192F-5331-4722-823D-66B3B15D93C7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4440E2-25BC-4EEF-93E2-414DA1A21467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exact–weak 残差（备选）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F4D564-685E-46B0-81E1-FAEF5A5695D6}"/>
              </a:ext>
            </a:extLst>
          </p:cNvPr>
          <p:cNvSpPr>
            <a:spLocks noGrp="1"/>
          </p:cNvSpPr>
          <p:nvPr/>
        </p:nvSpPr>
        <p:spPr>
          <a:xfrm>
            <a:off x="3143250" y="5010150"/>
            <a:ext cx="344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exact_vs_heterodyne_residual.png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7D12466-B250-470A-B4E6-24EC8FBA7B61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59055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2139D7-4D7D-4194-8674-8ABF990228A7}"/>
              </a:ext>
            </a:extLst>
          </p:cNvPr>
          <p:cNvSpPr>
            <a:spLocks noGrp="1"/>
          </p:cNvSpPr>
          <p:nvPr/>
        </p:nvSpPr>
        <p:spPr>
          <a:xfrm>
            <a:off x="7124700" y="14287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PPT 占位符 → Word 公式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39E68CE-F296-489D-A741-11CAEF95CC12}"/>
              </a:ext>
            </a:extLst>
          </p:cNvPr>
          <p:cNvSpPr>
            <a:spLocks noGrp="1"/>
          </p:cNvSpPr>
          <p:nvPr/>
        </p:nvSpPr>
        <p:spPr>
          <a:xfrm>
            <a:off x="7219950" y="1962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F1  二维 phase grid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C58057-2F8E-43F4-B355-8B1452BDF7AC}"/>
              </a:ext>
            </a:extLst>
          </p:cNvPr>
          <p:cNvSpPr>
            <a:spLocks noGrp="1"/>
          </p:cNvSpPr>
          <p:nvPr/>
        </p:nvSpPr>
        <p:spPr>
          <a:xfrm>
            <a:off x="7219950" y="24193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F2  fixed LO condition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666698-4BDC-4035-A765-3CB2D0D61FE5}"/>
              </a:ext>
            </a:extLst>
          </p:cNvPr>
          <p:cNvSpPr>
            <a:spLocks noGrp="1"/>
          </p:cNvSpPr>
          <p:nvPr/>
        </p:nvSpPr>
        <p:spPr>
          <a:xfrm>
            <a:off x="7219950" y="2876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F3  emitted signal field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D2852C-FE44-43D3-BAB8-365D0A2F9E21}"/>
              </a:ext>
            </a:extLst>
          </p:cNvPr>
          <p:cNvSpPr>
            <a:spLocks noGrp="1"/>
          </p:cNvSpPr>
          <p:nvPr/>
        </p:nvSpPr>
        <p:spPr>
          <a:xfrm>
            <a:off x="7219950" y="33337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F4  exact detector readout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71ABD4-A0A1-4234-97C6-D9B778188F6D}"/>
              </a:ext>
            </a:extLst>
          </p:cNvPr>
          <p:cNvSpPr>
            <a:spLocks noGrp="1"/>
          </p:cNvSpPr>
          <p:nvPr/>
        </p:nvSpPr>
        <p:spPr>
          <a:xfrm>
            <a:off x="7219950" y="37909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F5  weak heterodyne readout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4F1DAD-F7E4-4DE4-9005-F27B408EB8AF}"/>
              </a:ext>
            </a:extLst>
          </p:cNvPr>
          <p:cNvSpPr>
            <a:spLocks noGrp="1"/>
          </p:cNvSpPr>
          <p:nvPr/>
        </p:nvSpPr>
        <p:spPr>
          <a:xfrm>
            <a:off x="7219950" y="4248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F6  2D Fourier projection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D3258B-B9D7-425C-80C1-CA00FD64243B}"/>
              </a:ext>
            </a:extLst>
          </p:cNvPr>
          <p:cNvSpPr>
            <a:spLocks noGrp="1"/>
          </p:cNvSpPr>
          <p:nvPr/>
        </p:nvSpPr>
        <p:spPr>
          <a:xfrm>
            <a:off x="7219950" y="47053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F7  exact detector decomposition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2DA41F-845A-4CA8-A4BD-504B8FC82F27}"/>
              </a:ext>
            </a:extLst>
          </p:cNvPr>
          <p:cNvSpPr>
            <a:spLocks noGrp="1"/>
          </p:cNvSpPr>
          <p:nvPr/>
        </p:nvSpPr>
        <p:spPr>
          <a:xfrm>
            <a:off x="7219950" y="5162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F8  N=2 alias condition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63FD49-C2EC-4444-ABF5-ECA7F9CF0ACD}"/>
              </a:ext>
            </a:extLst>
          </p:cNvPr>
          <p:cNvSpPr>
            <a:spLocks noGrp="1"/>
          </p:cNvSpPr>
          <p:nvPr/>
        </p:nvSpPr>
        <p:spPr>
          <a:xfrm>
            <a:off x="7124700" y="5619750"/>
            <a:ext cx="4286250" cy="6667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856450-8486-4AED-A151-541243461938}"/>
              </a:ext>
            </a:extLst>
          </p:cNvPr>
          <p:cNvSpPr>
            <a:spLocks noGrp="1"/>
          </p:cNvSpPr>
          <p:nvPr/>
        </p:nvSpPr>
        <p:spPr>
          <a:xfrm>
            <a:off x="7277100" y="57531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 LaTeX：TA_fixed_LO_formula_reference.docx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A673E-7FD6-404A-BC49-91E2F152F5D9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2858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4148DC2-3B70-46F5-BD14-4673AC5A0E9B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RESIDUAL APPENDIX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6D16490-BEC6-4401-9D8E-05EB9F5C5F7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detector − best-fit weak heterodyne：完整残差素材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0A8AD97-209C-4D67-AEC3-23DC863CD62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24608" y="1257300"/>
            <a:ext cx="3989933" cy="4762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A6FB3A8-807A-4899-84FB-4AFCC2E2B52A}"/>
              </a:ext>
            </a:extLst>
          </p:cNvPr>
          <p:cNvSpPr>
            <a:spLocks noGrp="1"/>
          </p:cNvSpPr>
          <p:nvPr/>
        </p:nvSpPr>
        <p:spPr>
          <a:xfrm>
            <a:off x="8324850" y="14668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图中通道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FA48EA-D49E-41F2-8A40-1756C2C77D14}"/>
              </a:ext>
            </a:extLst>
          </p:cNvPr>
          <p:cNvSpPr>
            <a:spLocks noGrp="1"/>
          </p:cNvSpPr>
          <p:nvPr/>
        </p:nvSpPr>
        <p:spPr>
          <a:xfrm>
            <a:off x="8324850" y="2038350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1DC346-E1B1-402F-8D21-D23ABBCD4DDB}"/>
              </a:ext>
            </a:extLst>
          </p:cNvPr>
          <p:cNvSpPr>
            <a:spLocks noGrp="1"/>
          </p:cNvSpPr>
          <p:nvPr/>
        </p:nvSpPr>
        <p:spPr>
          <a:xfrm>
            <a:off x="8591550" y="2038350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S₀,₁：目标通道残差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11FA48-52D9-4B69-9BA0-6F817A5A5BC4}"/>
              </a:ext>
            </a:extLst>
          </p:cNvPr>
          <p:cNvSpPr>
            <a:spLocks noGrp="1"/>
          </p:cNvSpPr>
          <p:nvPr/>
        </p:nvSpPr>
        <p:spPr>
          <a:xfrm>
            <a:off x="8324850" y="2628900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E5DA75-AAB4-4E0F-B82E-FE2075910335}"/>
              </a:ext>
            </a:extLst>
          </p:cNvPr>
          <p:cNvSpPr>
            <a:spLocks noGrp="1"/>
          </p:cNvSpPr>
          <p:nvPr/>
        </p:nvSpPr>
        <p:spPr>
          <a:xfrm>
            <a:off x="8591550" y="2628900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S₀,₀：exact detector 二次项影响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FCE09E-8F24-490C-81C8-1693EEB7D152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D8385-78D4-445E-9F0F-5A7BB6C62938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S₀,₂：弱二级 probe-order 通道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F9D9D2-711B-4C42-9851-E979F2492194}"/>
              </a:ext>
            </a:extLst>
          </p:cNvPr>
          <p:cNvSpPr>
            <a:spLocks noGrp="1"/>
          </p:cNvSpPr>
          <p:nvPr/>
        </p:nvSpPr>
        <p:spPr>
          <a:xfrm>
            <a:off x="8324850" y="3810000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5A94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364E43-FEDB-488B-8A78-ED944E73270F}"/>
              </a:ext>
            </a:extLst>
          </p:cNvPr>
          <p:cNvSpPr>
            <a:spLocks noGrp="1"/>
          </p:cNvSpPr>
          <p:nvPr/>
        </p:nvSpPr>
        <p:spPr>
          <a:xfrm>
            <a:off x="8591550" y="3810000"/>
            <a:ext cx="2876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S₂,₋₁：混合 phase-order 通道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F40E79-A5EC-425D-994C-62A99940A2D0}"/>
              </a:ext>
            </a:extLst>
          </p:cNvPr>
          <p:cNvSpPr>
            <a:spLocks noGrp="1"/>
          </p:cNvSpPr>
          <p:nvPr/>
        </p:nvSpPr>
        <p:spPr>
          <a:xfrm>
            <a:off x="8324850" y="47625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保留完整原图，供讨论时按主题自行拆分或重排。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9A5796-A7EA-43F2-85D2-3280B846AB5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981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完整图：exact_vs_heterodyne_residual.png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8F15BA-E90D-4BCA-ACD8-8718ED6245CA}"/>
              </a:ext>
            </a:extLst>
          </p:cNvPr>
          <p:cNvSpPr>
            <a:spLocks noGrp="1"/>
          </p:cNvSpPr>
          <p:nvPr/>
        </p:nvSpPr>
        <p:spPr>
          <a:xfrm>
            <a:off x="10991850" y="6486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5000"/>
              </a:lnSpc>
              <a:buNone/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642099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3080</Words>
  <Application>Microsoft Office PowerPoint</Application>
  <DocSecurity>0</DocSecurity>
  <PresentationFormat>宽屏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Jianghao Shen</cp:lastModifiedBy>
  <cp:revision>1</cp:revision>
  <dcterms:created xsi:type="dcterms:W3CDTF">2026-08-20T10:22:58Z</dcterms:created>
  <dcterms:modified xsi:type="dcterms:W3CDTF">2026-08-20T13:49:22Z</dcterms:modified>
</cp:coreProperties>
</file>